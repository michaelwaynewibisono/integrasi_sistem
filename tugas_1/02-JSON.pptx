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8" r:id="rId2"/>
    <p:sldId id="313" r:id="rId3"/>
    <p:sldId id="330" r:id="rId4"/>
    <p:sldId id="324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42" r:id="rId13"/>
    <p:sldId id="338" r:id="rId14"/>
    <p:sldId id="339" r:id="rId15"/>
    <p:sldId id="340" r:id="rId16"/>
    <p:sldId id="341" r:id="rId17"/>
    <p:sldId id="343" r:id="rId18"/>
    <p:sldId id="344" r:id="rId19"/>
    <p:sldId id="346" r:id="rId20"/>
    <p:sldId id="347" r:id="rId21"/>
    <p:sldId id="348" r:id="rId22"/>
    <p:sldId id="351" r:id="rId23"/>
    <p:sldId id="352" r:id="rId24"/>
    <p:sldId id="329" r:id="rId25"/>
    <p:sldId id="349" r:id="rId26"/>
    <p:sldId id="350" r:id="rId27"/>
    <p:sldId id="353" r:id="rId28"/>
    <p:sldId id="314" r:id="rId29"/>
    <p:sldId id="35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Suhartono, S.Si. M.Sc" initials="DSSM" lastIdx="18" clrIdx="0">
    <p:extLst>
      <p:ext uri="{19B8F6BF-5375-455C-9EA6-DF929625EA0E}">
        <p15:presenceInfo xmlns:p15="http://schemas.microsoft.com/office/powerpoint/2012/main" userId="Dr. Suhartono, S.Si. M.Sc" providerId="None"/>
      </p:ext>
    </p:extLst>
  </p:cmAuthor>
  <p:cmAuthor id="2" name="340141201@staff.integra.its.ac.id" initials="3" lastIdx="2" clrIdx="1">
    <p:extLst>
      <p:ext uri="{19B8F6BF-5375-455C-9EA6-DF929625EA0E}">
        <p15:presenceInfo xmlns:p15="http://schemas.microsoft.com/office/powerpoint/2012/main" userId="S::340141201@staff.integra.its.ac.id::99a1003c-ab9d-49ba-a83f-5b24df4a10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FFBD07"/>
    <a:srgbClr val="F9B01C"/>
    <a:srgbClr val="14A9BC"/>
    <a:srgbClr val="D23527"/>
    <a:srgbClr val="F5AA2D"/>
    <a:srgbClr val="FFC411"/>
    <a:srgbClr val="013880"/>
    <a:srgbClr val="212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DC43-1280-4ED7-B53A-414953A99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5819B-4D99-40C4-87E3-7FDF131F4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C92D-9C78-4977-B5A5-58D6583F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E6F-49BB-43F5-9F7C-EDE66FE4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D001C-AC2E-412E-B5D8-C9959C8E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495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B945-AF89-4AF3-BE75-6C0023E9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5E16-F944-4EE1-973B-81FC13366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3A7EC-5630-4379-A18B-36BDA793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3FCC2-EF1E-40B3-862D-9890E802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74E4D-32C1-42C6-9D53-A6263D0C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83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9F0A-F393-49AA-AD9E-D58DA837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F8068-CFAF-4867-9842-2FCC60A23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21A0-31E6-4A37-95C7-D21528B4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BF36-8154-46C9-802C-860583C5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4E3BB-08CC-428A-A1B2-8993F895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564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623D-5B61-4ABB-B59C-B98C5FCF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F25B8-C24A-45FD-ABD3-467DB0A01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28152-6343-44C9-87F4-C563F9D75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CF3A2-5B86-4E48-BE22-87077DA7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C79D1-73EA-4195-847D-79F8D8C0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8E74F-065D-4C2E-BA3B-8B0D0491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238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4AE9-FE3D-4F1F-835B-24397596D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DCC88-54A1-4C65-BB69-CE9D17FF4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A97A3-F9A5-4966-B87F-FC8AB937B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2FBF3-8387-4399-BE89-27FC5CAC2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58EE48-2443-4FA0-A1A7-5FF554C78F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45C27-DA98-4FFD-9D49-B6825C97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247C0-FF11-47D3-A20C-9516CE55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6471D-4CE6-4D7E-9BB2-BC49765B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992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F116-48F3-404E-95BC-4121E180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D55AC-2230-40CC-82B1-FDD237B2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1735A-B265-4668-A40B-2B048C4E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E2B26-529C-4862-843C-9E195E8C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777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DD16D-53B2-40BC-B1DD-ECF13633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1ECE5-1906-47BB-B825-82011CDF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89BC3-0549-4107-A6E6-8AD20E1D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802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F6FE-12CE-4625-96B8-7BE5E6D4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813D-6BB9-4F29-AF85-82345039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E8E94-45F0-423B-B75C-D8FF0DD74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86039-5E37-4379-AF3E-72989789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815D8-C900-40CB-B051-4266CD21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05B34-1D32-4310-88EA-3AD52E1B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489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A776-B805-42B3-82C8-43369401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D129A-539A-4B8C-A0B7-90152AB27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6FF41-1B0E-4CB8-AE9B-0F70A1A47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99EA3-7278-4E34-BD9E-31B495B5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67DFF-DE0A-4E07-B35F-CE79CDE9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DF8BB-BBDB-44CE-8429-1880C677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043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7E121-6C30-40A7-B38F-6414C51E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E2B48-7FD3-4A36-A4AA-E782E9AC4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B06B-8875-4BE7-BBBD-3628D4FD2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63BA-C116-452E-8375-7C4CF636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28C03-55B0-4F03-94F6-6ECA6B1C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066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8A71D-21B7-4EFF-93E5-E26C64B337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2DA5A3-6B45-4D91-8C0D-9568ED2B6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0929-C6CB-4C07-991C-28F076BB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D9775-C543-41A9-9BC8-A7A4684B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53DD-F52B-4736-8ED0-F694B632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4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1AF9E-DC9A-4384-A38A-859B18B0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19B25-7FCA-44A6-BC92-DE8BCF812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DA077-27DE-4BEB-9083-799AFEB9C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D93F4-4716-44B4-A6C6-857EB3ABE7D6}" type="datetimeFigureOut">
              <a:rPr lang="en-ID" smtClean="0"/>
              <a:t>06/03/2024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0A032-854C-4741-A2A5-35DADC053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85EC2-6D46-4EEE-A60D-6911D2DCC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54C5-7854-4C07-B5CA-D5952F0965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529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jbf1ZgPy0c&amp;t=604s" TargetMode="External"/><Relationship Id="rId2" Type="http://schemas.openxmlformats.org/officeDocument/2006/relationships/hyperlink" Target="https://www.youtube.com/watch?v=kCEdU9yEUn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xml/default.asp" TargetMode="External"/><Relationship Id="rId5" Type="http://schemas.openxmlformats.org/officeDocument/2006/relationships/hyperlink" Target="https://www.w3schools.com/js/js_json_intro.asp" TargetMode="External"/><Relationship Id="rId4" Type="http://schemas.openxmlformats.org/officeDocument/2006/relationships/hyperlink" Target="https://www.youtube.com/watch?v=q7B5PlPcem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2AF227-D8D9-4F8F-BD09-B5EC26BDAB12}"/>
              </a:ext>
            </a:extLst>
          </p:cNvPr>
          <p:cNvSpPr/>
          <p:nvPr/>
        </p:nvSpPr>
        <p:spPr>
          <a:xfrm>
            <a:off x="-163212" y="-85725"/>
            <a:ext cx="12526662" cy="6943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826623" y="3534335"/>
            <a:ext cx="3708399" cy="993447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1058027">
            <a:off x="-1250307" y="3787843"/>
            <a:ext cx="6690079" cy="37934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1680882" y="2114825"/>
            <a:ext cx="8736895" cy="12713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D" sz="7200" b="1" dirty="0">
                <a:solidFill>
                  <a:srgbClr val="F9B01C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8E5C2F5-8167-4E14-BC01-B4A1076CAEF3}"/>
              </a:ext>
            </a:extLst>
          </p:cNvPr>
          <p:cNvSpPr txBox="1">
            <a:spLocks/>
          </p:cNvSpPr>
          <p:nvPr/>
        </p:nvSpPr>
        <p:spPr>
          <a:xfrm>
            <a:off x="6826624" y="3473808"/>
            <a:ext cx="3552600" cy="6480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sz="2400" b="1" dirty="0">
                <a:solidFill>
                  <a:srgbClr val="002060"/>
                </a:solidFill>
                <a:latin typeface="Myriad Pro" panose="020B0503030403020204" pitchFamily="34" charset="0"/>
              </a:rPr>
              <a:t>Integrative Programming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502E5E5-44F1-4DB6-A42F-4B16FC8BAF5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38930" y="6516913"/>
            <a:ext cx="7514141" cy="27432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238091" y="35026"/>
            <a:ext cx="3715818" cy="975453"/>
            <a:chOff x="5061681" y="35026"/>
            <a:chExt cx="3715818" cy="975453"/>
          </a:xfrm>
        </p:grpSpPr>
        <p:grpSp>
          <p:nvGrpSpPr>
            <p:cNvPr id="4" name="Group 3"/>
            <p:cNvGrpSpPr/>
            <p:nvPr/>
          </p:nvGrpSpPr>
          <p:grpSpPr>
            <a:xfrm>
              <a:off x="5061681" y="35026"/>
              <a:ext cx="2068639" cy="975453"/>
              <a:chOff x="4689384" y="35026"/>
              <a:chExt cx="2068639" cy="975453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9384" y="35026"/>
                <a:ext cx="975453" cy="975453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57167" y="72324"/>
                <a:ext cx="900856" cy="900856"/>
              </a:xfrm>
              <a:prstGeom prst="rect">
                <a:avLst/>
              </a:prstGeom>
            </p:spPr>
          </p:pic>
        </p:grp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0320" y="112565"/>
              <a:ext cx="1647179" cy="878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03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5401364" y="107584"/>
            <a:ext cx="6065272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Outline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19801" cy="4351338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Pros and cons</a:t>
            </a:r>
          </a:p>
          <a:p>
            <a:r>
              <a:rPr lang="en-US" dirty="0"/>
              <a:t>Syntax</a:t>
            </a:r>
          </a:p>
          <a:p>
            <a:r>
              <a:rPr lang="en-US" dirty="0"/>
              <a:t>Parser</a:t>
            </a:r>
          </a:p>
        </p:txBody>
      </p:sp>
    </p:spTree>
    <p:extLst>
      <p:ext uri="{BB962C8B-B14F-4D97-AF65-F5344CB8AC3E}">
        <p14:creationId xmlns:p14="http://schemas.microsoft.com/office/powerpoint/2010/main" val="188537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5401364" y="107584"/>
            <a:ext cx="6065272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Introduction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</a:t>
            </a:r>
            <a:r>
              <a:rPr lang="en-US" dirty="0">
                <a:sym typeface="Wingdings" panose="05000000000000000000" pitchFamily="2" charset="2"/>
              </a:rPr>
              <a:t> JavaScript Object Notation</a:t>
            </a:r>
          </a:p>
          <a:p>
            <a:r>
              <a:rPr lang="en-US" dirty="0">
                <a:sym typeface="Wingdings" panose="05000000000000000000" pitchFamily="2" charset="2"/>
              </a:rPr>
              <a:t>Lightweight format for exchanging data between client and server</a:t>
            </a:r>
          </a:p>
          <a:p>
            <a:r>
              <a:rPr lang="en-US" dirty="0">
                <a:sym typeface="Wingdings" panose="05000000000000000000" pitchFamily="2" charset="2"/>
              </a:rPr>
              <a:t>Easy to read and write</a:t>
            </a:r>
          </a:p>
          <a:p>
            <a:r>
              <a:rPr lang="en-US" dirty="0">
                <a:sym typeface="Wingdings" panose="05000000000000000000" pitchFamily="2" charset="2"/>
              </a:rPr>
              <a:t>Simple format</a:t>
            </a:r>
          </a:p>
          <a:p>
            <a:r>
              <a:rPr lang="en-US" dirty="0">
                <a:sym typeface="Wingdings" panose="05000000000000000000" pitchFamily="2" charset="2"/>
              </a:rPr>
              <a:t>Plain text</a:t>
            </a:r>
          </a:p>
          <a:p>
            <a:r>
              <a:rPr lang="en-US" dirty="0">
                <a:sym typeface="Wingdings" panose="05000000000000000000" pitchFamily="2" charset="2"/>
              </a:rPr>
              <a:t>Language independent</a:t>
            </a:r>
          </a:p>
          <a:p>
            <a:r>
              <a:rPr lang="en-US" dirty="0">
                <a:sym typeface="Wingdings" panose="05000000000000000000" pitchFamily="2" charset="2"/>
              </a:rPr>
              <a:t>The file type for JSON files is “.</a:t>
            </a:r>
            <a:r>
              <a:rPr lang="en-US" dirty="0" err="1">
                <a:sym typeface="Wingdings" panose="05000000000000000000" pitchFamily="2" charset="2"/>
              </a:rPr>
              <a:t>json</a:t>
            </a:r>
            <a:r>
              <a:rPr lang="en-US" dirty="0">
                <a:sym typeface="Wingdings" panose="05000000000000000000" pitchFamily="2" charset="2"/>
              </a:rPr>
              <a:t>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13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5401364" y="107584"/>
            <a:ext cx="6065272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Pros and Cons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9788" y="2043195"/>
            <a:ext cx="5157787" cy="461879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dirty="0"/>
              <a:t>Pros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Fast to parse</a:t>
            </a:r>
          </a:p>
          <a:p>
            <a:r>
              <a:rPr lang="en-US" dirty="0"/>
              <a:t>Supported by many languages</a:t>
            </a:r>
          </a:p>
          <a:p>
            <a:r>
              <a:rPr lang="en-US" dirty="0"/>
              <a:t>Easy to read and write</a:t>
            </a:r>
          </a:p>
          <a:p>
            <a:r>
              <a:rPr lang="en-US" dirty="0"/>
              <a:t>Wide range of supported browser compatibility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72200" y="2043194"/>
            <a:ext cx="5183188" cy="461879"/>
          </a:xfrm>
          <a:solidFill>
            <a:srgbClr val="C00000"/>
          </a:solidFill>
        </p:spPr>
        <p:txBody>
          <a:bodyPr/>
          <a:lstStyle/>
          <a:p>
            <a:pPr algn="ctr"/>
            <a:r>
              <a:rPr lang="en-US" dirty="0"/>
              <a:t>Cons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No error handling</a:t>
            </a:r>
          </a:p>
          <a:p>
            <a:r>
              <a:rPr lang="en-US" dirty="0"/>
              <a:t>Not fully secure</a:t>
            </a:r>
          </a:p>
          <a:p>
            <a:r>
              <a:rPr lang="en-US" dirty="0"/>
              <a:t>Support limited data type</a:t>
            </a:r>
          </a:p>
        </p:txBody>
      </p:sp>
    </p:spTree>
    <p:extLst>
      <p:ext uri="{BB962C8B-B14F-4D97-AF65-F5344CB8AC3E}">
        <p14:creationId xmlns:p14="http://schemas.microsoft.com/office/powerpoint/2010/main" val="117382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5401364" y="107584"/>
            <a:ext cx="6065272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Syntax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Rules: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is in name/ value pairs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is separated by commas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Curly braces {} hold the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Square brackets [] hold arrays</a:t>
            </a:r>
          </a:p>
        </p:txBody>
      </p:sp>
    </p:spTree>
    <p:extLst>
      <p:ext uri="{BB962C8B-B14F-4D97-AF65-F5344CB8AC3E}">
        <p14:creationId xmlns:p14="http://schemas.microsoft.com/office/powerpoint/2010/main" val="93363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Rules 1 = Data is in name/ value pairs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Consists of a field name (</a:t>
            </a:r>
            <a:r>
              <a:rPr lang="en-US" b="1" dirty="0"/>
              <a:t>in double quotes</a:t>
            </a:r>
            <a:r>
              <a:rPr lang="en-US" dirty="0"/>
              <a:t>)</a:t>
            </a:r>
            <a:r>
              <a:rPr lang="en-US" dirty="0">
                <a:sym typeface="Wingdings" panose="05000000000000000000" pitchFamily="2" charset="2"/>
              </a:rPr>
              <a:t> a colon  a value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{“name” : “value”}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JSON name/ key must be string inside double quotes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63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Rules 1 = Data is in name/ value pairs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type of JSON value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/>
              <a:t>Object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Boolean</a:t>
            </a:r>
          </a:p>
          <a:p>
            <a:pPr lvl="1"/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416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is derived from JavaScript (JS)</a:t>
            </a:r>
          </a:p>
          <a:p>
            <a:r>
              <a:rPr lang="en-US" dirty="0"/>
              <a:t>However, unlike JS, JSON values cannot be one of the following data type: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 function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 date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Undefined</a:t>
            </a:r>
          </a:p>
        </p:txBody>
      </p:sp>
    </p:spTree>
    <p:extLst>
      <p:ext uri="{BB962C8B-B14F-4D97-AF65-F5344CB8AC3E}">
        <p14:creationId xmlns:p14="http://schemas.microsoft.com/office/powerpoint/2010/main" val="344435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strings</a:t>
            </a:r>
          </a:p>
          <a:p>
            <a:pPr lvl="1"/>
            <a:r>
              <a:rPr lang="en-US" dirty="0"/>
              <a:t>Data type string must be written inside double quote</a:t>
            </a:r>
          </a:p>
          <a:p>
            <a:pPr lvl="1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{“name” : “John”}</a:t>
            </a:r>
          </a:p>
        </p:txBody>
      </p:sp>
    </p:spTree>
    <p:extLst>
      <p:ext uri="{BB962C8B-B14F-4D97-AF65-F5344CB8AC3E}">
        <p14:creationId xmlns:p14="http://schemas.microsoft.com/office/powerpoint/2010/main" val="359175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numbers</a:t>
            </a:r>
          </a:p>
          <a:p>
            <a:pPr lvl="1"/>
            <a:r>
              <a:rPr lang="en-US" dirty="0"/>
              <a:t>Data type numbers must be an integer or a float</a:t>
            </a:r>
          </a:p>
          <a:p>
            <a:pPr lvl="1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{“age” : 18}</a:t>
            </a:r>
          </a:p>
        </p:txBody>
      </p:sp>
    </p:spTree>
    <p:extLst>
      <p:ext uri="{BB962C8B-B14F-4D97-AF65-F5344CB8AC3E}">
        <p14:creationId xmlns:p14="http://schemas.microsoft.com/office/powerpoint/2010/main" val="82600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objects</a:t>
            </a:r>
          </a:p>
          <a:p>
            <a:pPr lvl="1"/>
            <a:r>
              <a:rPr lang="en-US" dirty="0"/>
              <a:t>Refers to object in JS</a:t>
            </a:r>
          </a:p>
          <a:p>
            <a:pPr lvl="1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“student”:{“name” : “John”, “age” : “18”}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33617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objects can be created using JavaScript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jsonObj</a:t>
            </a:r>
            <a:r>
              <a:rPr lang="en-US" dirty="0">
                <a:latin typeface="Consolas" panose="020B0609020204030204" pitchFamily="49" charset="0"/>
              </a:rPr>
              <a:t> = {}</a:t>
            </a:r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jsonObj</a:t>
            </a:r>
            <a:r>
              <a:rPr lang="en-US" dirty="0">
                <a:latin typeface="Consolas" panose="020B0609020204030204" pitchFamily="49" charset="0"/>
              </a:rPr>
              <a:t> = new Object() </a:t>
            </a:r>
          </a:p>
        </p:txBody>
      </p:sp>
    </p:spTree>
    <p:extLst>
      <p:ext uri="{BB962C8B-B14F-4D97-AF65-F5344CB8AC3E}">
        <p14:creationId xmlns:p14="http://schemas.microsoft.com/office/powerpoint/2010/main" val="80729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arrays</a:t>
            </a:r>
          </a:p>
          <a:p>
            <a:pPr lvl="1"/>
            <a:r>
              <a:rPr lang="en-US" dirty="0"/>
              <a:t>Written inside square brackets []</a:t>
            </a:r>
          </a:p>
          <a:p>
            <a:pPr lvl="1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“student”: [“John”, “Mike”, “Rebeca”]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35476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</a:t>
            </a:r>
            <a:r>
              <a:rPr lang="en-US" dirty="0" err="1"/>
              <a:t>booleans</a:t>
            </a:r>
            <a:endParaRPr lang="en-US" dirty="0"/>
          </a:p>
          <a:p>
            <a:pPr lvl="1"/>
            <a:r>
              <a:rPr lang="en-US" dirty="0"/>
              <a:t>Values can be True or False</a:t>
            </a:r>
          </a:p>
          <a:p>
            <a:pPr lvl="1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“</a:t>
            </a:r>
            <a:r>
              <a:rPr lang="en-US" dirty="0" err="1">
                <a:latin typeface="Consolas" panose="020B0609020204030204" pitchFamily="49" charset="0"/>
              </a:rPr>
              <a:t>isGraduate</a:t>
            </a:r>
            <a:r>
              <a:rPr lang="en-US" dirty="0">
                <a:latin typeface="Consolas" panose="020B0609020204030204" pitchFamily="49" charset="0"/>
              </a:rPr>
              <a:t>”: True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53997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data types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680882"/>
            <a:ext cx="10739719" cy="4496081"/>
          </a:xfrm>
        </p:spPr>
        <p:txBody>
          <a:bodyPr/>
          <a:lstStyle/>
          <a:p>
            <a:r>
              <a:rPr lang="en-US" dirty="0"/>
              <a:t>JSON null</a:t>
            </a:r>
          </a:p>
          <a:p>
            <a:pPr lvl="1"/>
            <a:r>
              <a:rPr lang="en-US" dirty="0"/>
              <a:t>The value can be null </a:t>
            </a:r>
          </a:p>
          <a:p>
            <a:pPr lvl="1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“</a:t>
            </a:r>
            <a:r>
              <a:rPr lang="en-US" dirty="0" err="1">
                <a:latin typeface="Consolas" panose="020B0609020204030204" pitchFamily="49" charset="0"/>
              </a:rPr>
              <a:t>middleName</a:t>
            </a:r>
            <a:r>
              <a:rPr lang="en-US" dirty="0">
                <a:latin typeface="Consolas" panose="020B0609020204030204" pitchFamily="49" charset="0"/>
              </a:rPr>
              <a:t>”: null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08196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Simple Example of JSON file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199408"/>
            <a:ext cx="10739719" cy="497755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"book": [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"id":"01",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"language": "Java",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"edition": "third",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"author": "Herbert </a:t>
            </a:r>
            <a:r>
              <a:rPr lang="en-US" dirty="0" err="1">
                <a:latin typeface="Consolas" panose="020B0609020204030204" pitchFamily="49" charset="0"/>
              </a:rPr>
              <a:t>Schildt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},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"id":"07",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"language": "C++",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"edition": "second",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 "author": "</a:t>
            </a:r>
            <a:r>
              <a:rPr lang="en-US" dirty="0" err="1">
                <a:latin typeface="Consolas" panose="020B0609020204030204" pitchFamily="49" charset="0"/>
              </a:rPr>
              <a:t>E.Balagurusamy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941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with JavaScript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995055"/>
            <a:ext cx="10739719" cy="4181908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JSON.parse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to parse JSON into JS object</a:t>
            </a:r>
          </a:p>
          <a:p>
            <a:r>
              <a:rPr lang="en-US" dirty="0"/>
              <a:t>Syntax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nsolas" panose="020B0609020204030204" pitchFamily="49" charset="0"/>
              </a:rPr>
              <a:t>JSON.parse</a:t>
            </a:r>
            <a:r>
              <a:rPr lang="en-US" dirty="0">
                <a:latin typeface="Consolas" panose="020B0609020204030204" pitchFamily="49" charset="0"/>
              </a:rPr>
              <a:t>(text)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‘{“name” : “John”, “age” : 18, “address” : “London”}’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JSON.parse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	console.log(obj.name) //display John</a:t>
            </a:r>
          </a:p>
          <a:p>
            <a:pPr marL="0" indent="0">
              <a:buNone/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40655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with JavaScript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995055"/>
            <a:ext cx="10739719" cy="4181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Read JSON from file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require() </a:t>
            </a:r>
            <a:r>
              <a:rPr lang="en-US" sz="2400" dirty="0"/>
              <a:t>method in </a:t>
            </a:r>
            <a:r>
              <a:rPr lang="en-US" sz="2400" dirty="0" err="1"/>
              <a:t>NodeJS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used to load files that takes the path from local file</a:t>
            </a:r>
          </a:p>
          <a:p>
            <a:r>
              <a:rPr lang="en-US" sz="2400" dirty="0"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const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jsData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= require(‘./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students.json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’);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console.log(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jsData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5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</a:t>
            </a:r>
            <a:r>
              <a:rPr lang="en-US" sz="4000" b="1" dirty="0" err="1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stringify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995055"/>
            <a:ext cx="10739719" cy="4181908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stringify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  <a:r>
              <a:rPr lang="en-US" sz="2400" dirty="0"/>
              <a:t>convert JSON object to string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{name: "John", age: 30, city: "New York"};</a:t>
            </a:r>
            <a:b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JSON.stringify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console.log(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   // display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{name: "John", age: 30, city: "New York"};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4787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JSON </a:t>
            </a:r>
            <a:r>
              <a:rPr lang="en-US" sz="4000" b="1" dirty="0" err="1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stringify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995055"/>
            <a:ext cx="10739719" cy="4181908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stringify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  <a:r>
              <a:rPr lang="en-US" sz="2400" dirty="0"/>
              <a:t>also can used in JS array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["John", "Peter", "Sally", "Jane"];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myArr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JSON.stringify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console.log(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myArr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   // display </a:t>
            </a: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  <a:t>["John", "Peter", "Sally", "Jane"];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5740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Accessing object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995055"/>
            <a:ext cx="10739719" cy="4181908"/>
          </a:xfrm>
        </p:spPr>
        <p:txBody>
          <a:bodyPr>
            <a:normAutofit/>
          </a:bodyPr>
          <a:lstStyle/>
          <a:p>
            <a:r>
              <a:rPr lang="en-US" sz="2400" dirty="0"/>
              <a:t>Using dot (.) notation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'{"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name":"John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", "age":30, 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car":null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}';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JSON.parse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console.log(myObj.name);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// display John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Using bracket [] notation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 '{"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name":"John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", "age":30, 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car":null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}';</a:t>
            </a:r>
            <a:b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JSON.parse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  <a:b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console.log(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["name"]);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3426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Display JSON in HTML using JS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083342" y="1477334"/>
            <a:ext cx="9350830" cy="480458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&lt;!DOCTYPE html&gt;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&lt;html&gt;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&lt;body&gt;</a:t>
            </a: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&lt;h2&gt;Creating an Object from a JSON String&lt;/h2&gt;</a:t>
            </a: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&lt;p id="demo"&gt;&lt;/p&gt;</a:t>
            </a: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&lt;script&gt;</a:t>
            </a:r>
          </a:p>
          <a:p>
            <a:pPr marL="457200" lvl="1" indent="0">
              <a:buNone/>
            </a:pP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const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txt = '{"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name":"John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", "age":30, "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city":"New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York"}'</a:t>
            </a:r>
          </a:p>
          <a:p>
            <a:pPr marL="457200" lvl="1" indent="0">
              <a:buNone/>
            </a:pP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const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obj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= 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JSON.parse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(txt);</a:t>
            </a:r>
          </a:p>
          <a:p>
            <a:pPr marL="457200" lvl="1" indent="0">
              <a:buNone/>
            </a:pP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document.getElementById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("demo").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innerHTML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= obj.name + ", " + 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obj.age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&lt;/script&gt;</a:t>
            </a: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&lt;/body&gt;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1458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Display JSON in HTML using JS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314" y="1834834"/>
            <a:ext cx="7125744" cy="32834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132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5873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4018569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5873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Exercise: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this data into JSON format (You can convert manually)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158" y="3391609"/>
            <a:ext cx="5005862" cy="215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34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58734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Exercise: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Display that JSON using HTML</a:t>
            </a:r>
          </a:p>
        </p:txBody>
      </p:sp>
    </p:spTree>
    <p:extLst>
      <p:ext uri="{BB962C8B-B14F-4D97-AF65-F5344CB8AC3E}">
        <p14:creationId xmlns:p14="http://schemas.microsoft.com/office/powerpoint/2010/main" val="3148100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98" b="33266"/>
          <a:stretch/>
        </p:blipFill>
        <p:spPr>
          <a:xfrm rot="791721">
            <a:off x="-187922" y="6212758"/>
            <a:ext cx="1864355" cy="827814"/>
          </a:xfrm>
          <a:prstGeom prst="rect">
            <a:avLst/>
          </a:prstGeom>
        </p:spPr>
      </p:pic>
      <p:sp>
        <p:nvSpPr>
          <p:cNvPr id="29" name="TextBox 2">
            <a:extLst>
              <a:ext uri="{FF2B5EF4-FFF2-40B4-BE49-F238E27FC236}">
                <a16:creationId xmlns:a16="http://schemas.microsoft.com/office/drawing/2014/main" id="{DA54738E-23F3-4CC4-9D2C-55C70FA1F210}"/>
              </a:ext>
            </a:extLst>
          </p:cNvPr>
          <p:cNvSpPr txBox="1"/>
          <p:nvPr/>
        </p:nvSpPr>
        <p:spPr>
          <a:xfrm>
            <a:off x="868181" y="6472778"/>
            <a:ext cx="3916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Raleway SemiBold" panose="020B0703030101060003" pitchFamily="34" charset="0"/>
              </a:rPr>
              <a:t>www.its.ac.id</a:t>
            </a:r>
            <a:endParaRPr lang="id-ID" sz="1400" dirty="0">
              <a:solidFill>
                <a:srgbClr val="002060"/>
              </a:solidFill>
              <a:latin typeface="Raleway SemiBold" panose="020B07030301010600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13A3C1-4D1F-407B-8077-E4FFCEB42A42}"/>
              </a:ext>
            </a:extLst>
          </p:cNvPr>
          <p:cNvGrpSpPr/>
          <p:nvPr/>
        </p:nvGrpSpPr>
        <p:grpSpPr>
          <a:xfrm>
            <a:off x="343482" y="6589488"/>
            <a:ext cx="276847" cy="99072"/>
            <a:chOff x="258233" y="6589488"/>
            <a:chExt cx="276847" cy="9907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D365C-CB42-4458-966B-910F4FF36967}"/>
                </a:ext>
              </a:extLst>
            </p:cNvPr>
            <p:cNvSpPr/>
            <p:nvPr/>
          </p:nvSpPr>
          <p:spPr>
            <a:xfrm>
              <a:off x="258233" y="6589488"/>
              <a:ext cx="106347" cy="99072"/>
            </a:xfrm>
            <a:prstGeom prst="ellipse">
              <a:avLst/>
            </a:prstGeom>
            <a:solidFill>
              <a:srgbClr val="F5AA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8B68D9A-43B4-45C3-A2C5-4CAC17B5C62C}"/>
                </a:ext>
              </a:extLst>
            </p:cNvPr>
            <p:cNvSpPr/>
            <p:nvPr/>
          </p:nvSpPr>
          <p:spPr>
            <a:xfrm>
              <a:off x="428733" y="6589488"/>
              <a:ext cx="106347" cy="99072"/>
            </a:xfrm>
            <a:prstGeom prst="ellipse">
              <a:avLst/>
            </a:prstGeom>
            <a:solidFill>
              <a:srgbClr val="FFC4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33" name="TextBox 2">
            <a:extLst>
              <a:ext uri="{FF2B5EF4-FFF2-40B4-BE49-F238E27FC236}">
                <a16:creationId xmlns:a16="http://schemas.microsoft.com/office/drawing/2014/main" id="{DF8383E6-08D9-4AA3-A75B-B9B2CB28CA38}"/>
              </a:ext>
            </a:extLst>
          </p:cNvPr>
          <p:cNvSpPr txBox="1"/>
          <p:nvPr/>
        </p:nvSpPr>
        <p:spPr>
          <a:xfrm>
            <a:off x="5758757" y="6380783"/>
            <a:ext cx="5707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2060"/>
                </a:solidFill>
                <a:latin typeface="Myriad Pro" panose="020B0503030403020204" pitchFamily="34" charset="0"/>
              </a:rPr>
              <a:t>INSTITUT TEKNOLOGI SEPULUH NOPEMBER, Surabaya - Indonesia</a:t>
            </a:r>
            <a:endParaRPr lang="id-ID" sz="1400" dirty="0">
              <a:solidFill>
                <a:srgbClr val="002060"/>
              </a:solidFill>
              <a:latin typeface="Myriad Pro" panose="020B0503030403020204" pitchFamily="34" charset="0"/>
            </a:endParaRPr>
          </a:p>
        </p:txBody>
      </p:sp>
      <p:pic>
        <p:nvPicPr>
          <p:cNvPr id="20" name="Picture 19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V="1">
            <a:off x="8742117" y="990142"/>
            <a:ext cx="2724518" cy="45719"/>
          </a:xfrm>
          <a:prstGeom prst="rect">
            <a:avLst/>
          </a:prstGeom>
          <a:solidFill>
            <a:srgbClr val="F9B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9B01C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4ABD8A-4E84-4000-A92E-A85B5E8E598D}"/>
              </a:ext>
            </a:extLst>
          </p:cNvPr>
          <p:cNvSpPr txBox="1">
            <a:spLocks/>
          </p:cNvSpPr>
          <p:nvPr/>
        </p:nvSpPr>
        <p:spPr>
          <a:xfrm>
            <a:off x="2937436" y="107584"/>
            <a:ext cx="8529200" cy="8376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b="1" dirty="0">
                <a:solidFill>
                  <a:srgbClr val="002060"/>
                </a:solidFill>
                <a:latin typeface="Myriad Pro" panose="020B0503030403020204" pitchFamily="34" charset="0"/>
                <a:cs typeface="Myriad Arabic" panose="01010101010101010101" pitchFamily="50" charset="-78"/>
              </a:rPr>
              <a:t>Accessing object</a:t>
            </a:r>
            <a:endParaRPr lang="en-ID" sz="4000" b="1" dirty="0">
              <a:solidFill>
                <a:srgbClr val="002060"/>
              </a:solidFill>
              <a:latin typeface="Myriad Pro" panose="020B0503030403020204" pitchFamily="34" charset="0"/>
              <a:cs typeface="Myriad Arabic" panose="01010101010101010101" pitchFamily="50" charset="-78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199" y="1995055"/>
            <a:ext cx="10739719" cy="4181908"/>
          </a:xfrm>
        </p:spPr>
        <p:txBody>
          <a:bodyPr>
            <a:normAutofit/>
          </a:bodyPr>
          <a:lstStyle/>
          <a:p>
            <a:r>
              <a:rPr lang="en-US" sz="2400" dirty="0"/>
              <a:t>Using dot (.) notation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'{"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name":"John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", "age":30, 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car":null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}';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JSON.parse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console.log(myObj.name);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// display John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</a:rPr>
              <a:t>Using bracket [] notation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sym typeface="Wingdings" panose="05000000000000000000" pitchFamily="2" charset="2"/>
              </a:rPr>
              <a:t>Example:</a:t>
            </a:r>
          </a:p>
          <a:p>
            <a:pPr marL="457200" lvl="1" indent="0">
              <a:buNone/>
            </a:pP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 '{"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name":"John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", "age":30, "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car":null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}';</a:t>
            </a:r>
            <a:b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JSON.parse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myJSON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  <a:br>
              <a:rPr lang="en-US" sz="1800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console.log(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myObj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["name"]);</a:t>
            </a:r>
            <a:endParaRPr lang="en-US" sz="18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3168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62BDA5-A908-4D29-9786-B68BEE580494}"/>
              </a:ext>
            </a:extLst>
          </p:cNvPr>
          <p:cNvSpPr/>
          <p:nvPr/>
        </p:nvSpPr>
        <p:spPr>
          <a:xfrm>
            <a:off x="3138489" y="2965392"/>
            <a:ext cx="6315074" cy="934405"/>
          </a:xfrm>
          <a:prstGeom prst="rect">
            <a:avLst/>
          </a:prstGeom>
          <a:solidFill>
            <a:srgbClr val="FFBD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013880"/>
                </a:solidFill>
                <a:latin typeface="Avenir Next LT Pro" panose="020B0504020202020204" pitchFamily="34" charset="0"/>
              </a:rPr>
              <a:t>TERIMA KASIH</a:t>
            </a:r>
            <a:endParaRPr lang="en-ID" sz="3600" b="1" dirty="0">
              <a:solidFill>
                <a:srgbClr val="013880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968FB2-4E7C-4AD1-A093-0DB944531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930" y="6487389"/>
            <a:ext cx="7514141" cy="274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37CD9C-86BA-4EF9-B350-658F61E632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098" b="33266"/>
          <a:stretch/>
        </p:blipFill>
        <p:spPr>
          <a:xfrm rot="791721">
            <a:off x="4463238" y="-820397"/>
            <a:ext cx="8645293" cy="3838697"/>
          </a:xfrm>
          <a:prstGeom prst="rect">
            <a:avLst/>
          </a:prstGeom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3D82B546-7A30-4A8E-A956-4C69FC8D05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5" y="238646"/>
            <a:ext cx="622489" cy="622489"/>
          </a:xfrm>
          <a:prstGeom prst="rect">
            <a:avLst/>
          </a:prstGeom>
        </p:spPr>
      </p:pic>
      <p:pic>
        <p:nvPicPr>
          <p:cNvPr id="15" name="Picture 14" descr="A picture containing drawing&#10;&#10;Description automatically generated">
            <a:extLst>
              <a:ext uri="{FF2B5EF4-FFF2-40B4-BE49-F238E27FC236}">
                <a16:creationId xmlns:a16="http://schemas.microsoft.com/office/drawing/2014/main" id="{5885393E-74A7-4DD0-92F0-102DD8B4BC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57" y="275191"/>
            <a:ext cx="549401" cy="5494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05" y="275191"/>
            <a:ext cx="1191131" cy="63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1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260B-6BE2-15DE-05D7-098FD79F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D3E6-259A-C6E5-7546-A1196027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>
                <a:hlinkClick r:id="rId2"/>
              </a:rPr>
              <a:t>https://www.youtube.com/watch?v=kCEdU9yEUns</a:t>
            </a:r>
            <a:endParaRPr lang="en-ID" dirty="0"/>
          </a:p>
          <a:p>
            <a:r>
              <a:rPr lang="en-ID" dirty="0">
                <a:hlinkClick r:id="rId3"/>
              </a:rPr>
              <a:t>https://www.youtube.com/watch?v=Xjbf1ZgPy0c&amp;t=604s</a:t>
            </a:r>
            <a:r>
              <a:rPr lang="en-ID" dirty="0"/>
              <a:t> </a:t>
            </a:r>
          </a:p>
          <a:p>
            <a:r>
              <a:rPr lang="en-ID" dirty="0">
                <a:hlinkClick r:id="rId4"/>
              </a:rPr>
              <a:t>https://www.youtube.com/watch?v=q7B5PlPcem8</a:t>
            </a:r>
            <a:r>
              <a:rPr lang="en-ID" dirty="0"/>
              <a:t> </a:t>
            </a:r>
          </a:p>
          <a:p>
            <a:r>
              <a:rPr lang="en-ID" dirty="0">
                <a:hlinkClick r:id="rId5"/>
              </a:rPr>
              <a:t>https://www.w3schools.com/js/js_json_intro.asp</a:t>
            </a:r>
            <a:r>
              <a:rPr lang="en-ID" dirty="0"/>
              <a:t> </a:t>
            </a:r>
          </a:p>
          <a:p>
            <a:r>
              <a:rPr lang="en-ID" dirty="0">
                <a:hlinkClick r:id="rId6"/>
              </a:rPr>
              <a:t>https://www.w3schools.com/xml/default.asp</a:t>
            </a:r>
            <a:r>
              <a:rPr lang="en-ID" dirty="0"/>
              <a:t>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41839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4961</TotalTime>
  <Words>1464</Words>
  <Application>Microsoft Office PowerPoint</Application>
  <PresentationFormat>Widescreen</PresentationFormat>
  <Paragraphs>241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Avenir Next LT Pro</vt:lpstr>
      <vt:lpstr>Calibri</vt:lpstr>
      <vt:lpstr>Calibri Light</vt:lpstr>
      <vt:lpstr>Consolas</vt:lpstr>
      <vt:lpstr>Myriad Pro</vt:lpstr>
      <vt:lpstr>Raleway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Putri Dwitasari, S.T., M.Ds.(4444)</dc:creator>
  <cp:lastModifiedBy>Annisaa Sri Indrawanti</cp:lastModifiedBy>
  <cp:revision>153</cp:revision>
  <dcterms:created xsi:type="dcterms:W3CDTF">2020-01-30T06:48:20Z</dcterms:created>
  <dcterms:modified xsi:type="dcterms:W3CDTF">2024-03-06T00:22:03Z</dcterms:modified>
</cp:coreProperties>
</file>